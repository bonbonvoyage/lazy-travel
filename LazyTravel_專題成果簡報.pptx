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每週提交次數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21295C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第 26 週
發想</c:v>
                  </c:pt>
                  <c:pt idx="1">
                    <c:v>第 28 週
骨架</c:v>
                  </c:pt>
                  <c:pt idx="2">
                    <c:v>第 29 週
資料庫</c:v>
                  </c:pt>
                  <c:pt idx="3">
                    <c:v>第 30 週
平行開發</c:v>
                  </c:pt>
                  <c:pt idx="4">
                    <c:v>第 31 週
整合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9</c:v>
                </c:pt>
                <c:pt idx="2">
                  <c:v>17</c:v>
                </c:pt>
                <c:pt idx="3">
                  <c:v>40</c:v>
                </c:pt>
                <c:pt idx="4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21295C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A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E2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開場：我們這組做的是旅遊揪團社群平台 LazyTravel 慢遊。跟多數組別不同的是，我們把重心放在後台管理系統，做的是一套可授權、可稽核的管理端。我是組長，負責整體架構、資料庫建置與整合。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四個定位。第一點是我們的差異化：後台不是附屬品，是主體。第二點 RBAC 是這學期最硬的部分。第三點呼應老師強調的『資料要放資料庫』。第四點是協作流程。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技術棧全部是課程內容的延伸應用。特別提兩個課外自學：EF Core Power Tools 反向工程，以及 Cloudflare R2 圖床，解決圖片存在本機無法跨電腦 demo 的問題。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這些數字都可以從 Git 紀錄直接驗證。112 次提交集中在 18 天內，最後兩週分別是 40 次和 45 次，是整合最密集的階段。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四層架構。重點在第二層：Controller 只呼叫 Service 介面，不直接碰資料庫，這讓還沒完成的模組可以先用暫時實作頂著，不會卡住其他人。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 張表分五個模組。A 到 C 是期中範圍，D 是期末擴充，E 是後台員工與權限，也是我後來補進來的。腳本設計成可重複執行，每個組員都能一鍵重建同一份資料庫。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資料庫改了三次。第三次是最痛的一次，因為前面兩版的 Model 是手改的，和真實欄位對不上，Reports 要 join Members 時整個查詢炸掉。從那之後我們規定 Model 一律反向工程產生。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六個階段。要強調的是第二和第四階段：這兩段沒有產出任何功能畫面，但如果沒有先立規範，後面五個人做出來的東西根本兜不起來。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這張圖我特別想講第三點：我們把整合排在最後兩週，結果那兩週幾乎所有時間都在解衝突，而不是做功能。這是我身為組長最大的排程失誤。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五個人五個模組，互不重疊。分支流程是強制的，main 不能直接 push，所有東西都要走 PR，由我審查後合併。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決策 1：用介面隔離跨模組依賴。用問題、決策、結果三段講，重點放在為什麼要這樣選，而不是做了什麼。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決策 2：以資料庫為單一真相來源。用問題、決策、結果三段講，重點放在為什麼要這樣選，而不是做了什麼。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決策 3：dev 分支必須隨時可以建置。用問題、決策、結果三段講，重點放在為什麼要這樣選，而不是做了什麼。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這頁通常最有共鳴。可以挑第一個和第五個現場講細節：一個是編碼，一個是換教室電腦就 demo 不了，都是實際被卡住好幾個小時的經驗。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我的工作大多不是一個看得見的畫面，所以我用四條軸線加上可查證的檔案來說明。每一條後面那行小字都是實際存在於 repo 裡、可以打開來看的證據。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這是我最想講的一頁。專題最大的收穫不是學會某個技術，而是理解到：團隊開發真正的成本在整合，而整合成本可以靠制度提前攤平。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誠實列出沒做完的部分，比假裝全部完成更有說服力，也順勢帶出下一階段的規劃。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收尾後直接進 Demo。動線按這個順序走，先讓評審看到權限差異，再看各模組，最後回到前台，故事最完整。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05840"/>
            <a:ext cx="5120640" cy="5120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469880" y="777240"/>
            <a:ext cx="1554480" cy="1554480"/>
          </a:xfrm>
          <a:prstGeom prst="ellipse">
            <a:avLst/>
          </a:prstGeom>
          <a:solidFill>
            <a:srgbClr val="ABC9D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965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全端整合專題 ‧ 成果報告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LazyTravel 慢遊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94360" y="3474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旅遊揪團社群平台 — 以後台管理系統為核心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Core MVC (.NET 8) ‧ Entity Framework Core ‧ SQL Server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5806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報告人：組長 洪欣茹    |    2026.07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專案概述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讓旅人找到旅伴、分享行程，並讓平台方能夠安全地治理內容與會員。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5317236" cy="1691640"/>
          </a:xfrm>
          <a:prstGeom prst="roundRect">
            <a:avLst>
              <a:gd name="adj" fmla="val 432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505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450592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以後台為核心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08760" y="2889504"/>
            <a:ext cx="40827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多數專題只做前台展示，我們完整實作可授權、可稽核的管理端。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7356" y="2103120"/>
            <a:ext cx="5317236" cy="1691640"/>
          </a:xfrm>
          <a:prstGeom prst="roundRect">
            <a:avLst>
              <a:gd name="adj" fmla="val 432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97396" y="24505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97396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91756" y="2450592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企業級權限控管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191756" y="2889504"/>
            <a:ext cx="40827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RBAC 細粒度權限碼，不同角色登入後看到不同選單與操作。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114800"/>
            <a:ext cx="5317236" cy="1691640"/>
          </a:xfrm>
          <a:prstGeom prst="roundRect">
            <a:avLst>
              <a:gd name="adj" fmla="val 432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4622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462272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真實資料庫驅動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508760" y="4901184"/>
            <a:ext cx="40827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 張表的全模組規格書，所有清單與選項皆來自資料庫。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77356" y="4114800"/>
            <a:ext cx="5317236" cy="1691640"/>
          </a:xfrm>
          <a:prstGeom prst="roundRect">
            <a:avLst>
              <a:gd name="adj" fmla="val 432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7396" y="44622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59739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91756" y="4462272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團隊協作流程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191756" y="4901184"/>
            <a:ext cx="40827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 / dev / feature 分支規則，功能一律經 Pull Request 合併。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技術架構與工具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1000232" cy="658368"/>
          </a:xfrm>
          <a:prstGeom prst="roundRect">
            <a:avLst>
              <a:gd name="adj" fmla="val 11111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719072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後端框架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20440" y="1600200"/>
            <a:ext cx="7799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Core MVC (.NET 8) ‧ C# ‧ Area 分區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404872"/>
            <a:ext cx="11000232" cy="658368"/>
          </a:xfrm>
          <a:prstGeom prst="roundRect">
            <a:avLst>
              <a:gd name="adj" fmla="val 11111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252374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4048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資料存取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404872"/>
            <a:ext cx="7799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Entity Framework Core ‧ EF Core Power Tools 反向工程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209544"/>
            <a:ext cx="11000232" cy="658368"/>
          </a:xfrm>
          <a:prstGeom prst="roundRect">
            <a:avLst>
              <a:gd name="adj" fmla="val 11111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" y="3328416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20954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0440" y="3209544"/>
            <a:ext cx="7799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SQL Server ‧ SSMS ‧ T-SQL 建置腳本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014216"/>
            <a:ext cx="11000232" cy="658368"/>
          </a:xfrm>
          <a:prstGeom prst="roundRect">
            <a:avLst>
              <a:gd name="adj" fmla="val 11111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13308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40142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前端呈現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20440" y="4014216"/>
            <a:ext cx="7799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Razor View ‧ Bootstrap 5 ‧ 原生 JavaScript / Ajax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4818888"/>
            <a:ext cx="11000232" cy="658368"/>
          </a:xfrm>
          <a:prstGeom prst="roundRect">
            <a:avLst>
              <a:gd name="adj" fmla="val 11111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" y="493776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" y="4937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48188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安全機制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520440" y="4818888"/>
            <a:ext cx="7799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Cookie 認證 ‧ RBAC 授權原則 ‧ BCrypt 密碼雜湊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" y="5623560"/>
            <a:ext cx="11000232" cy="658368"/>
          </a:xfrm>
          <a:prstGeom prst="roundRect">
            <a:avLst>
              <a:gd name="adj" fmla="val 11111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" y="574243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" y="5742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56235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雲端與協作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20440" y="5623560"/>
            <a:ext cx="7799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Cloudflare R2 圖床 ‧ GitHub Flow ‧ Figma 設計 Token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專案數據總覽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483864" cy="1783080"/>
          </a:xfrm>
          <a:prstGeom prst="roundRect">
            <a:avLst>
              <a:gd name="adj" fmla="val 4103"/>
            </a:avLst>
          </a:prstGeom>
          <a:solidFill>
            <a:srgbClr val="2E3873"/>
          </a:solidFill>
          <a:ln w="12700">
            <a:solidFill>
              <a:srgbClr val="2E38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47088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張資料表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07238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 A ~ E 全涵蓋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1783080"/>
          </a:xfrm>
          <a:prstGeom prst="roundRect">
            <a:avLst>
              <a:gd name="adj" fmla="val 4103"/>
            </a:avLst>
          </a:prstGeom>
          <a:solidFill>
            <a:srgbClr val="2E3873"/>
          </a:solidFill>
          <a:ln w="12700">
            <a:solidFill>
              <a:srgbClr val="2E38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847088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626864" y="274320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個後台模組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26864" y="307238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已完成並可操作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10728" y="1691640"/>
            <a:ext cx="3483864" cy="1783080"/>
          </a:xfrm>
          <a:prstGeom prst="roundRect">
            <a:avLst>
              <a:gd name="adj" fmla="val 4103"/>
            </a:avLst>
          </a:prstGeom>
          <a:solidFill>
            <a:srgbClr val="2E3873"/>
          </a:solidFill>
          <a:ln w="12700">
            <a:solidFill>
              <a:srgbClr val="2E38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5048" y="1847088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385048" y="274320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 Git 提交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85048" y="307238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天密集開發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794760"/>
            <a:ext cx="5362956" cy="1463040"/>
          </a:xfrm>
          <a:prstGeom prst="roundRect">
            <a:avLst>
              <a:gd name="adj" fmla="val 5000"/>
            </a:avLst>
          </a:prstGeom>
          <a:solidFill>
            <a:srgbClr val="2E3873"/>
          </a:solidFill>
          <a:ln w="12700">
            <a:solidFill>
              <a:srgbClr val="2E38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931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8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2697480" y="4096512"/>
            <a:ext cx="2985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 Pull Request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697480" y="4425696"/>
            <a:ext cx="2985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全數經審查合併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1636" y="3794760"/>
            <a:ext cx="5362956" cy="1463040"/>
          </a:xfrm>
          <a:prstGeom prst="roundRect">
            <a:avLst>
              <a:gd name="adj" fmla="val 5000"/>
            </a:avLst>
          </a:prstGeom>
          <a:solidFill>
            <a:srgbClr val="2E3873"/>
          </a:solidFill>
          <a:ln w="12700">
            <a:solidFill>
              <a:srgbClr val="2E38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5956" y="3931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8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8334756" y="4096512"/>
            <a:ext cx="2985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位協作成員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34756" y="4425696"/>
            <a:ext cx="2985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條功能分支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57150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開發期間　2026.06.24 專案發想　→　2026.07.12 骨架建立　→　2026.07.29 整合完成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系統分層架構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11000232" cy="932688"/>
          </a:xfrm>
          <a:prstGeom prst="roundRect">
            <a:avLst>
              <a:gd name="adj" fmla="val 7843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653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755648"/>
            <a:ext cx="9811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表現層　Presentation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112264"/>
            <a:ext cx="9811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 Home / Explore / Report　　後台 Area「Admin」7 個 Controller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10800000">
            <a:off x="5948172" y="2606040"/>
            <a:ext cx="292608" cy="164592"/>
          </a:xfrm>
          <a:prstGeom prst="triangle">
            <a:avLst/>
          </a:prstGeom>
          <a:solidFill>
            <a:srgbClr val="ABC9D6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816352"/>
            <a:ext cx="11000232" cy="932688"/>
          </a:xfrm>
          <a:prstGeom prst="roundRect">
            <a:avLst>
              <a:gd name="adj" fmla="val 7843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0540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2944368"/>
            <a:ext cx="9811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商業邏輯層　Service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300984"/>
            <a:ext cx="9811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IReportService ‧ IMemberService ‧ IEmployeeService ‧ INotificationService ‧ IAdminLogService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5948172" y="3794760"/>
            <a:ext cx="292608" cy="164592"/>
          </a:xfrm>
          <a:prstGeom prst="triangle">
            <a:avLst/>
          </a:prstGeom>
          <a:solidFill>
            <a:srgbClr val="ABC9D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4005072"/>
            <a:ext cx="11000232" cy="932688"/>
          </a:xfrm>
          <a:prstGeom prst="roundRect">
            <a:avLst>
              <a:gd name="adj" fmla="val 7843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4281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133088"/>
            <a:ext cx="9811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資料存取層　Data Access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08760" y="4489704"/>
            <a:ext cx="9811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EF Core ‧ LazyTravelDBContext（反向工程產生，涵蓋全部資料表）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rot="10800000">
            <a:off x="5948172" y="4983480"/>
            <a:ext cx="292608" cy="164592"/>
          </a:xfrm>
          <a:prstGeom prst="triangle">
            <a:avLst/>
          </a:prstGeom>
          <a:solidFill>
            <a:srgbClr val="ABC9D6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5193792"/>
            <a:ext cx="11000232" cy="932688"/>
          </a:xfrm>
          <a:prstGeom prst="roundRect">
            <a:avLst>
              <a:gd name="adj" fmla="val 7843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5431536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08760" y="5321808"/>
            <a:ext cx="9811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資料儲存層　Storage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508760" y="5678424"/>
            <a:ext cx="9811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Server「LazyTravelDB」32 張表　＋　Cloudflare R2 物件儲存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資料庫模組地圖　32 張資料表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1000232" cy="749808"/>
          </a:xfrm>
          <a:prstGeom prst="roundRect">
            <a:avLst>
              <a:gd name="adj" fmla="val 9756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17465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72184" y="16824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會員系統與平台安全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72184" y="1993392"/>
            <a:ext cx="9811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Members ‧ Follows ‧ Friendships ‧ Blocks ‧ Reports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487168"/>
            <a:ext cx="11000232" cy="749808"/>
          </a:xfrm>
          <a:prstGeom prst="roundRect">
            <a:avLst>
              <a:gd name="adj" fmla="val 9756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26334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72184" y="25694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揪團與社群互動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72184" y="2880360"/>
            <a:ext cx="9811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TravelGroups ‧ GroupMembers ‧ JoinRequests ‧ TravelGroupsLog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374136"/>
            <a:ext cx="11000232" cy="749808"/>
          </a:xfrm>
          <a:prstGeom prst="roundRect">
            <a:avLst>
              <a:gd name="adj" fmla="val 9756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" y="3520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72184" y="34564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旅遊行程分享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72184" y="3767328"/>
            <a:ext cx="9811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VlogPosts ‧ ItineraryNodes ‧ PostInteractions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4261104"/>
            <a:ext cx="11000232" cy="749808"/>
          </a:xfrm>
          <a:prstGeom prst="roundRect">
            <a:avLst>
              <a:gd name="adj" fmla="val 9756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" y="44074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72184" y="4343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期末擴充功能區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472184" y="4654296"/>
            <a:ext cx="9811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ForumPosts ‧ Expenses ‧ ExpenseSplits ‧ Subscriptions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5148072"/>
            <a:ext cx="11000232" cy="749808"/>
          </a:xfrm>
          <a:prstGeom prst="roundRect">
            <a:avLst>
              <a:gd name="adj" fmla="val 9756"/>
            </a:avLst>
          </a:prstGeom>
          <a:solidFill>
            <a:srgbClr val="E3EAF0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" y="5294376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72184" y="52303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企業級後台權限管理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72184" y="5541264"/>
            <a:ext cx="9811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Employees ‧ Roles ‧ Permissions ‧ RolePermissions ‧ AdminAuditLogs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4360" y="6053328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建置腳本 sql/LazyTravelDB_Build.sql — 依父子關聯順序刪除後重建，可重複執行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資料庫設計的三次改版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453384" cy="3017520"/>
          </a:xfrm>
          <a:prstGeom prst="roundRect">
            <a:avLst>
              <a:gd name="adj" fmla="val 242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938528"/>
            <a:ext cx="566928" cy="566928"/>
          </a:xfrm>
          <a:prstGeom prst="ellipse">
            <a:avLst/>
          </a:prstGeom>
          <a:solidFill>
            <a:srgbClr val="ABC9D6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996184" y="20116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7/13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697480"/>
            <a:ext cx="2868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張表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86968" y="3310128"/>
            <a:ext cx="2868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schema_core.sql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6968" y="3675888"/>
            <a:ext cx="2868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先驗證 EF Core 連得上、跑得動 CRUD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5400000">
            <a:off x="4102608" y="3108960"/>
            <a:ext cx="201168" cy="256032"/>
          </a:xfrm>
          <a:prstGeom prst="triangle">
            <a:avLst/>
          </a:prstGeom>
          <a:solidFill>
            <a:srgbClr val="ABC9D6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7784" y="1691640"/>
            <a:ext cx="3453384" cy="3017520"/>
          </a:xfrm>
          <a:prstGeom prst="roundRect">
            <a:avLst>
              <a:gd name="adj" fmla="val 242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0392" y="19385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660392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69608" y="20116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7/19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0392" y="2697480"/>
            <a:ext cx="2868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 張表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60392" y="3310128"/>
            <a:ext cx="2868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SQLQuery0719.sql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0392" y="3675888"/>
            <a:ext cx="2868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SSMS 匯出，各模組開始平行開發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rot="5400000">
            <a:off x="7876032" y="3108960"/>
            <a:ext cx="201168" cy="256032"/>
          </a:xfrm>
          <a:prstGeom prst="triangle">
            <a:avLst/>
          </a:prstGeom>
          <a:solidFill>
            <a:srgbClr val="ABC9D6"/>
          </a:solidFill>
          <a:ln/>
        </p:spPr>
      </p:sp>
      <p:sp>
        <p:nvSpPr>
          <p:cNvPr id="20" name="Shape 18"/>
          <p:cNvSpPr/>
          <p:nvPr/>
        </p:nvSpPr>
        <p:spPr>
          <a:xfrm>
            <a:off x="8141208" y="1691640"/>
            <a:ext cx="3453384" cy="3017520"/>
          </a:xfrm>
          <a:prstGeom prst="roundRect">
            <a:avLst>
              <a:gd name="adj" fmla="val 242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33816" y="19385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8433816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543032" y="20116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7/23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33816" y="2697480"/>
            <a:ext cx="2868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 張表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433816" y="3310128"/>
            <a:ext cx="2868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LazyTravelDB_Build.sql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33816" y="3675888"/>
            <a:ext cx="2868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依規格書 v2 重建，補上 TravelGroupsLog 與 RBAC 六張表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" y="4956048"/>
            <a:ext cx="11000232" cy="1051560"/>
          </a:xfrm>
          <a:prstGeom prst="roundRect">
            <a:avLst>
              <a:gd name="adj" fmla="val 6957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120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關鍵教訓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423160" y="5102352"/>
            <a:ext cx="8805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B34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EF Model 與實際資料表欄位長期對不上，直接讓查詢整個失敗。改為「以資料庫為單一真相來源」，一律用 EF Core Power Tools 反向工程產生 Model，禁止手改。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專題製作流程　六個階段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95681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6/24 – 7/11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04872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題目定案與需求盤點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2807208"/>
            <a:ext cx="2935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確立以後台管理為主軸，盤點功能清單與側欄選單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4592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1828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04104" y="195681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7/12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26864" y="2404872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專案骨架與協作規範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26864" y="2807208"/>
            <a:ext cx="2935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MVC 骨架、分支規則、環境建置 SOP、連線字串不進版控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0728" y="164592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828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62288" y="195681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7/13 – 7/23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85048" y="2404872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資料庫設計三次迭代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85048" y="2807208"/>
            <a:ext cx="2935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張表 → 26 張表 → 32 張表，改用反向工程產生 Model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3904488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087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645920" y="421538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7/21 – 7/22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66344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視覺與規範統一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68680" y="5065776"/>
            <a:ext cx="2935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Figma 蒸餾色票字級間距，寫成 DESIGN.md 供全組遵循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3904488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4087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404104" y="421538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7/21 – 7/28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26864" y="466344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模組平行開發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626864" y="5065776"/>
            <a:ext cx="2935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各自 feature 分支，跨模組依賴一律用介面隔離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0728" y="3904488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85048" y="4087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162288" y="421538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7/28 – 7/29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85048" y="466344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整合、除錯與收斂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385048" y="5065776"/>
            <a:ext cx="2935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密集合併 PR、排解衝突、統一 UI、訂前後端分離規則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MOMENTUM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開發節奏與整合壓力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60020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830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21040" y="17556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前期投入在看不見的地方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21040" y="216712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前三週只有 27 次提交，幾乎都是規範、腳本與資料庫設計。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0" y="32004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21040" y="31729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後兩週爆量是整合，不是趕工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321040" y="358444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+ 45 次提交裡有大量合併與衝突修復，功能其實早就寫好了。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0" y="4617720"/>
            <a:ext cx="384048" cy="384048"/>
          </a:xfrm>
          <a:prstGeom prst="ellipse">
            <a:avLst/>
          </a:prstGeom>
          <a:solidFill>
            <a:srgbClr val="E08A2E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21040" y="45902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得到的教訓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21040" y="500176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整合成本被嚴重低估。下次會提早一週開始合併，而不是集中在最後。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團隊分工與負責模組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1000232" cy="731520"/>
          </a:xfrm>
          <a:prstGeom prst="roundRect">
            <a:avLst>
              <a:gd name="adj" fmla="val 10000"/>
            </a:avLst>
          </a:prstGeom>
          <a:solidFill>
            <a:srgbClr val="E3EAF0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792224"/>
            <a:ext cx="438912" cy="43891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洪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53896" y="17190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洪欣茹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53896" y="2039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1645920"/>
            <a:ext cx="7891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整體架構、資料庫建置、前台頁面、整合與衝突排解、UI 統一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2505456"/>
            <a:ext cx="11000232" cy="731520"/>
          </a:xfrm>
          <a:prstGeom prst="roundRect">
            <a:avLst>
              <a:gd name="adj" fmla="val 10000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265176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53896" y="25786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黃浚翔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53896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505456"/>
            <a:ext cx="7891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會員管理、員工管理、角色權限 RBAC、稽核日誌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364992"/>
            <a:ext cx="11000232" cy="731520"/>
          </a:xfrm>
          <a:prstGeom prst="roundRect">
            <a:avLst>
              <a:gd name="adj" fmla="val 10000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351129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53896" y="343814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藍培碩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53896" y="37581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364992"/>
            <a:ext cx="7891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檢舉審核台：篩選、判定流程、累犯自動停權、圖床證據上傳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94360" y="4224528"/>
            <a:ext cx="11000232" cy="731520"/>
          </a:xfrm>
          <a:prstGeom prst="roundRect">
            <a:avLst>
              <a:gd name="adj" fmla="val 10000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" y="4370832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怡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53896" y="4297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怡　茜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53896" y="46177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4224528"/>
            <a:ext cx="7891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揪團管理：清單篩選、操作紀錄、刪除還原、狀態同步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94360" y="5084064"/>
            <a:ext cx="11000232" cy="731520"/>
          </a:xfrm>
          <a:prstGeom prst="roundRect">
            <a:avLst>
              <a:gd name="adj" fmla="val 10000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" y="523036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" y="5230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53896" y="51572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ykmkun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453896" y="54772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29000" y="5084064"/>
            <a:ext cx="7891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旅遊 Vlog 文章管理：新增編輯、審核流程、圖床上傳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94360" y="603504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協作方式　每人一條 feature 分支 → 發 Pull Request → 組長審查並解衝突 → 合併回 dev → 穩定後上 main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 DECISION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用介面隔離跨模組依賴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11000232" cy="1298448"/>
          </a:xfrm>
          <a:prstGeom prst="roundRect">
            <a:avLst>
              <a:gd name="adj" fmla="val 563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2140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C25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214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　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920240"/>
            <a:ext cx="9034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B34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檢舉審核台判定成立後，需要「發通知」「寫操作紀錄」「停權會員」三個功能，但這三個都由別的組員負責、當時都還沒完成。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3310128"/>
            <a:ext cx="11000232" cy="1298448"/>
          </a:xfrm>
          <a:prstGeom prst="roundRect">
            <a:avLst>
              <a:gd name="adj" fmla="val 563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694176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941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　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3493008"/>
            <a:ext cx="9034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B34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先定義 INotificationService、IAdminLogService、IMemberService 三個介面與暫時實作，Controller 只依賴介面。真正實作完成後，只需在 Program.cs 換掉一行 DI 註冊。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882896"/>
            <a:ext cx="11000232" cy="1298448"/>
          </a:xfrm>
          <a:prstGeom prst="roundRect">
            <a:avLst>
              <a:gd name="adj" fmla="val 563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5266944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2669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　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5065776"/>
            <a:ext cx="9034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B34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五個模組真正做到平行開發，沒有任何人因為等別人而停工；後續抽換實作不必修改任何 Controller。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 DECISION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以資料庫為單一真相來源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11000232" cy="1298448"/>
          </a:xfrm>
          <a:prstGeom prst="roundRect">
            <a:avLst>
              <a:gd name="adj" fmla="val 563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2140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C25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214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　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920240"/>
            <a:ext cx="9034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B34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手寫的 EF Model 與實際資料表欄位長期不一致（型別 string 對 tinyint、欄位改名未同步），導致 join 查詢直接失敗，且每次改 schema 都要人工比對。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3310128"/>
            <a:ext cx="11000232" cy="1298448"/>
          </a:xfrm>
          <a:prstGeom prst="roundRect">
            <a:avLst>
              <a:gd name="adj" fmla="val 563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694176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941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　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3493008"/>
            <a:ext cx="9034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B34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改用 EF Core Power Tools 從資料庫反向工程產生 LazyTravelDBContext，淘汰只涵蓋 4 張表的舊 Context，並規定 Model 一律重新產生、禁止手改。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882896"/>
            <a:ext cx="11000232" cy="1298448"/>
          </a:xfrm>
          <a:prstGeom prst="roundRect">
            <a:avLst>
              <a:gd name="adj" fmla="val 563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5266944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2669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　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5065776"/>
            <a:ext cx="9034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B34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schema 一改，重跑一次工具即可全組同步；下拉選單的類型與狀態也全部改查資料庫，不再寫死在程式裡。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 DECISION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 分支必須隨時可以建置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11000232" cy="1298448"/>
          </a:xfrm>
          <a:prstGeom prst="roundRect">
            <a:avLst>
              <a:gd name="adj" fmla="val 563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2140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C25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214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　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920240"/>
            <a:ext cx="9034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B34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整合期一天內湧入多個 PR，某次合併後 Dashboard 被整個覆蓋、另一次合併造成編譯錯誤，整組人都被卡住無法繼續開發。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3310128"/>
            <a:ext cx="11000232" cy="1298448"/>
          </a:xfrm>
          <a:prstGeom prst="roundRect">
            <a:avLst>
              <a:gd name="adj" fmla="val 563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694176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941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　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3493008"/>
            <a:ext cx="9034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B34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訂下規則：合併前先在本機驗證建置；已經合進去才發現問題的功能，一律 revert 回穩定狀態，修好之後重新發 PR，不在 dev 上硬修。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882896"/>
            <a:ext cx="11000232" cy="1298448"/>
          </a:xfrm>
          <a:prstGeom prst="roundRect">
            <a:avLst>
              <a:gd name="adj" fmla="val 5634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5266944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2669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　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5065776"/>
            <a:ext cx="9034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B34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#14 出問題後 revert（#16）、修正後重新合併（#17），dev 全程維持可執行，其他人的開發沒有中斷。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踩雷紀錄　Top 5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64208"/>
            <a:ext cx="11000232" cy="731520"/>
          </a:xfrm>
          <a:prstGeom prst="roundRect">
            <a:avLst>
              <a:gd name="adj" fmla="val 10000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810512"/>
            <a:ext cx="438912" cy="438912"/>
          </a:xfrm>
          <a:prstGeom prst="ellipse">
            <a:avLst/>
          </a:prstGeom>
          <a:solidFill>
            <a:srgbClr val="E08A2E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0472" y="16642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匯入腳本中文全毀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212080" y="1664208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sqlcmd 未指定 -f 65001，中文種子資料讓 IDENTITY_INSERT 直接中斷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523744"/>
            <a:ext cx="11000232" cy="73152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2670048"/>
            <a:ext cx="438912" cy="438912"/>
          </a:xfrm>
          <a:prstGeom prst="ellipse">
            <a:avLst/>
          </a:prstGeom>
          <a:solidFill>
            <a:srgbClr val="E08A2E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2670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0472" y="252374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enum 讀取全數失敗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212080" y="2523744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C# enum 預設是 int，資料庫欄位是 tinyint，改成 enum : byte 才對得上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383280"/>
            <a:ext cx="11000232" cy="731520"/>
          </a:xfrm>
          <a:prstGeom prst="roundRect">
            <a:avLst>
              <a:gd name="adj" fmla="val 10000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" y="3529584"/>
            <a:ext cx="438912" cy="438912"/>
          </a:xfrm>
          <a:prstGeom prst="ellipse">
            <a:avLst/>
          </a:prstGeom>
          <a:solidFill>
            <a:srgbClr val="E08A2E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0472" y="3383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改名沒同步造成編譯失敗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212080" y="3383280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InverseProperty 字串在欄位改名後未更新，整個專案建置不過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4242816"/>
            <a:ext cx="11000232" cy="73152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89120"/>
            <a:ext cx="438912" cy="438912"/>
          </a:xfrm>
          <a:prstGeom prst="ellipse">
            <a:avLst/>
          </a:prstGeom>
          <a:solidFill>
            <a:srgbClr val="E08A2E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" y="4389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0472" y="424281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合併覆蓋他人成果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212080" y="4242816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合併後 Dashboard 被整份蓋掉，靠 Git 歷史還原並補回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5102352"/>
            <a:ext cx="11000232" cy="731520"/>
          </a:xfrm>
          <a:prstGeom prst="roundRect">
            <a:avLst>
              <a:gd name="adj" fmla="val 10000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" y="5248656"/>
            <a:ext cx="438912" cy="438912"/>
          </a:xfrm>
          <a:prstGeom prst="ellipse">
            <a:avLst/>
          </a:prstGeom>
          <a:solidFill>
            <a:srgbClr val="E08A2E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" y="52486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0472" y="51023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換電腦就開不起來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212080" y="5102352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缺少 appsettings.Development.json 直接拋 SqlException，改成連不上也能啟動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6053328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五個問題有四個不是程式邏輯寫錯，而是「環境、編碼、型別對應、版本同步」——這些課本不會教，卻最耗時間。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 ROLE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我的角色：組長的四條工作軸線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17236" cy="1920240"/>
          </a:xfrm>
          <a:prstGeom prst="roundRect">
            <a:avLst>
              <a:gd name="adj" fmla="val 3810"/>
            </a:avLst>
          </a:prstGeom>
          <a:solidFill>
            <a:srgbClr val="2E3873"/>
          </a:solidFill>
          <a:ln w="12700">
            <a:solidFill>
              <a:srgbClr val="2E38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984248"/>
            <a:ext cx="457200" cy="457200"/>
          </a:xfrm>
          <a:prstGeom prst="ellipse">
            <a:avLst/>
          </a:prstGeom>
          <a:solidFill>
            <a:srgbClr val="ABC9D6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90472" y="1984248"/>
            <a:ext cx="4128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架構與規範制定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2532888"/>
            <a:ext cx="47320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訂分支規則與環境建置 SOP、設計 Service 分層與 DI 註冊、撰寫前後端分離規範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3191256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README ‧ Program.cs ‧ FRONTEND_BACKEND_SPLIT.md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77356" y="1691640"/>
            <a:ext cx="5317236" cy="1920240"/>
          </a:xfrm>
          <a:prstGeom prst="roundRect">
            <a:avLst>
              <a:gd name="adj" fmla="val 3810"/>
            </a:avLst>
          </a:prstGeom>
          <a:solidFill>
            <a:srgbClr val="2E3873"/>
          </a:solidFill>
          <a:ln w="12700">
            <a:solidFill>
              <a:srgbClr val="2E38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9964" y="1984248"/>
            <a:ext cx="457200" cy="457200"/>
          </a:xfrm>
          <a:prstGeom prst="ellipse">
            <a:avLst/>
          </a:prstGeom>
          <a:solidFill>
            <a:srgbClr val="E08A2E"/>
          </a:solidFill>
          <a:ln/>
        </p:spPr>
      </p:sp>
      <p:sp>
        <p:nvSpPr>
          <p:cNvPr id="12" name="Text 10"/>
          <p:cNvSpPr/>
          <p:nvPr/>
        </p:nvSpPr>
        <p:spPr>
          <a:xfrm>
            <a:off x="6569964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3468" y="1984248"/>
            <a:ext cx="4128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資料庫建置（DBA）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69964" y="2532888"/>
            <a:ext cx="47320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設計並撰寫 32 張表建置腳本、權限種子資料、測試資料，統一全組資料庫版本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69964" y="3191256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sql/LazyTravelDB_Build.sql ‧ RolePermissions_Seed.sql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904488"/>
            <a:ext cx="5317236" cy="1920240"/>
          </a:xfrm>
          <a:prstGeom prst="roundRect">
            <a:avLst>
              <a:gd name="adj" fmla="val 3810"/>
            </a:avLst>
          </a:prstGeom>
          <a:solidFill>
            <a:srgbClr val="2E3873"/>
          </a:solidFill>
          <a:ln w="12700">
            <a:solidFill>
              <a:srgbClr val="2E38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4197096"/>
            <a:ext cx="457200" cy="457200"/>
          </a:xfrm>
          <a:prstGeom prst="ellipse">
            <a:avLst/>
          </a:prstGeom>
          <a:solidFill>
            <a:srgbClr val="ABC9D6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90472" y="4197096"/>
            <a:ext cx="4128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整合與衝突排解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" y="4745736"/>
            <a:ext cx="47320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審查並合併 17 個 PR、修復合併造成的建置錯誤、必要時 revert 保護 dev 穩定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968" y="5404104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#3 ‧ #9 ‧ #14 → #16 → #17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77356" y="3904488"/>
            <a:ext cx="5317236" cy="1920240"/>
          </a:xfrm>
          <a:prstGeom prst="roundRect">
            <a:avLst>
              <a:gd name="adj" fmla="val 3810"/>
            </a:avLst>
          </a:prstGeom>
          <a:solidFill>
            <a:srgbClr val="2E3873"/>
          </a:solidFill>
          <a:ln w="12700">
            <a:solidFill>
              <a:srgbClr val="2E38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9964" y="4197096"/>
            <a:ext cx="457200" cy="457200"/>
          </a:xfrm>
          <a:prstGeom prst="ellipse">
            <a:avLst/>
          </a:prstGeom>
          <a:solidFill>
            <a:srgbClr val="E08A2E"/>
          </a:solidFill>
          <a:ln/>
        </p:spPr>
      </p:sp>
      <p:sp>
        <p:nvSpPr>
          <p:cNvPr id="24" name="Text 22"/>
          <p:cNvSpPr/>
          <p:nvPr/>
        </p:nvSpPr>
        <p:spPr>
          <a:xfrm>
            <a:off x="6569964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73468" y="4197096"/>
            <a:ext cx="4128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組員 UI 與功能微調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69964" y="4745736"/>
            <a:ext cx="47320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Figma 蒸餾設計 Token 統一視覺、調整篩選列與清單跳色、改寫前台首頁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69964" y="5404104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DESIGN.md ‧ brand.css ‧ admin.css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組長心得：我學到最痛的一課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1000232" cy="1371600"/>
          </a:xfrm>
          <a:prstGeom prst="roundRect">
            <a:avLst>
              <a:gd name="adj" fmla="val 5333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91640"/>
            <a:ext cx="10085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9A5E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「整合不是最後一個步驟，而是要從第一天就開始的日常。」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3291840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520440"/>
            <a:ext cx="2935224" cy="438912"/>
          </a:xfrm>
          <a:prstGeom prst="roundRect">
            <a:avLst>
              <a:gd name="adj" fmla="val 12500"/>
            </a:avLst>
          </a:prstGeom>
          <a:solidFill>
            <a:srgbClr val="C25A4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20440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當時的做法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05256" y="4114800"/>
            <a:ext cx="2862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讓每個人專心把自己的模組做完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整合排在最後兩週一起處理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共用檔案（Layout、CSS）誰要改誰改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2544" y="3291840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3520440"/>
            <a:ext cx="2935224" cy="438912"/>
          </a:xfrm>
          <a:prstGeom prst="roundRect">
            <a:avLst>
              <a:gd name="adj" fmla="val 12500"/>
            </a:avLst>
          </a:prstGeom>
          <a:solidFill>
            <a:srgbClr val="8A6D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864" y="3520440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造成的結果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4114800"/>
            <a:ext cx="2862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最後兩週 85 次提交幾乎都在解衝突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有人的成果被合併覆蓋，靠 Git 才救回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同一個後台出現四種不同的按鈕樣式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0728" y="3291840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5048" y="3520440"/>
            <a:ext cx="2935224" cy="438912"/>
          </a:xfrm>
          <a:prstGeom prst="roundRect">
            <a:avLst>
              <a:gd name="adj" fmla="val 12500"/>
            </a:avLst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48" y="3520440"/>
            <a:ext cx="2935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後來立的規則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21624" y="4114800"/>
            <a:ext cx="2862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每完成一個小功能就發 PR，不累積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合併前必須在本機建置成功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共用檔案改動前先在群組公告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SCOPE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已知限制與未來工作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17236" cy="4114800"/>
          </a:xfrm>
          <a:prstGeom prst="roundRect">
            <a:avLst>
              <a:gd name="adj" fmla="val 1778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4677156" cy="502920"/>
          </a:xfrm>
          <a:prstGeom prst="roundRect">
            <a:avLst>
              <a:gd name="adj" fmla="val 10909"/>
            </a:avLst>
          </a:prstGeom>
          <a:solidFill>
            <a:srgbClr val="C25A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677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目前的限制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752344"/>
            <a:ext cx="310896" cy="310896"/>
          </a:xfrm>
          <a:prstGeom prst="ellipse">
            <a:avLst/>
          </a:prstGeom>
          <a:solidFill>
            <a:srgbClr val="C25A4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99032" y="2651760"/>
            <a:ext cx="41468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論壇（Forum）與留言模組尚未實作，檢舉功能因此只支援 3 種對象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3502152"/>
            <a:ext cx="310896" cy="310896"/>
          </a:xfrm>
          <a:prstGeom prst="ellipse">
            <a:avLst/>
          </a:prstGeom>
          <a:solidFill>
            <a:srgbClr val="C25A4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99032" y="3401568"/>
            <a:ext cx="41468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通知中心、訂閱方案、數據分析頁面僅完成側欄入口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4251960"/>
            <a:ext cx="310896" cy="310896"/>
          </a:xfrm>
          <a:prstGeom prst="ellipse">
            <a:avLst/>
          </a:prstGeom>
          <a:solidFill>
            <a:srgbClr val="C25A4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99032" y="4151376"/>
            <a:ext cx="41468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AdminLogs 仍為記憶體暫存，尚未切換到 AdminAuditLogs 資料表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" y="5001768"/>
            <a:ext cx="310896" cy="310896"/>
          </a:xfrm>
          <a:prstGeom prst="ellipse">
            <a:avLst/>
          </a:prstGeom>
          <a:solidFill>
            <a:srgbClr val="C25A4A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001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99032" y="4901184"/>
            <a:ext cx="41468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檢舉的惡意標記等欄位目前只在本機新增，尚未收錄進共用腳本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7356" y="1691640"/>
            <a:ext cx="5317236" cy="4114800"/>
          </a:xfrm>
          <a:prstGeom prst="roundRect">
            <a:avLst>
              <a:gd name="adj" fmla="val 1778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7396" y="1965960"/>
            <a:ext cx="4677156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597396" y="1965960"/>
            <a:ext cx="4677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下一階段規劃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643116" y="2752344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643116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82028" y="2651760"/>
            <a:ext cx="41468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完成前後端分離改造，Controller 全面改回傳 JSON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43116" y="3502152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643116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82028" y="3401568"/>
            <a:ext cx="41468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AdminLogs 改接資料庫並補上操作者 ID 與來源 IP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43116" y="425196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643116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2028" y="4151376"/>
            <a:ext cx="41468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把本機額外欄位正式納入規格書與共用建置腳本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43116" y="5001768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643116" y="5001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2028" y="4901184"/>
            <a:ext cx="41468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補上單元測試與部署流程，讓專案能實際上線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754880" cy="4754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371600"/>
            <a:ext cx="3840480" cy="3840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14884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60604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感謝聆聽　現場 Demo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74904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BC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動線：後台登入 → 權限差異 → 會員管理 → 檢舉審核判定 → 揪團管理 → Vlog 發佈 → 前台呈現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580644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LazyTravel 慢遊　|　旅遊揪團社群平台　|　2026.07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LazyTravel 慢遊 — 全端專題成果報告</dc:title>
  <dc:subject>PptxGenJS Presentation</dc:subject>
  <dc:creator>LazyTravel 專題小組</dc:creator>
  <cp:lastModifiedBy>LazyTravel 專題小組</cp:lastModifiedBy>
  <cp:revision>1</cp:revision>
  <dcterms:created xsi:type="dcterms:W3CDTF">2026-07-29T05:18:30Z</dcterms:created>
  <dcterms:modified xsi:type="dcterms:W3CDTF">2026-07-29T05:18:30Z</dcterms:modified>
</cp:coreProperties>
</file>